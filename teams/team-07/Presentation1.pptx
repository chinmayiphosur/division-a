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1" r:id="rId2"/>
    <p:sldId id="257" r:id="rId3"/>
    <p:sldId id="312" r:id="rId4"/>
    <p:sldId id="256" r:id="rId5"/>
    <p:sldId id="313" r:id="rId6"/>
    <p:sldId id="31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40393-42BB-3CB3-EC76-9914CF0AE4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CE267C-70D3-2583-9364-77E3C9F171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FD0D5-FCE8-7871-E905-4DFC1E3576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8006-8231-43E3-A171-62EF1A9A6DF4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214371-EBB0-F2F1-E2CF-2E37C654A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E3E3E-7A12-54F6-39F9-6362245AB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AEFE9-6931-446E-9D70-A2704AF9B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73488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CE0ED-1AAA-2F14-6017-A3A52DC367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BC697-5D83-4E8B-EF85-07C0620FE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490D5-B9A9-96B8-727C-3D39EC3B2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8006-8231-43E3-A171-62EF1A9A6DF4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4801E1-D404-01B1-7F72-34674680D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2831C-DCC3-5784-CC3C-2C8BB79B8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AEFE9-6931-446E-9D70-A2704AF9B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1645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F8179-1E0F-6416-40D4-72A29B9BF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4DC326-4DC6-6B4A-1A37-50420CB8B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C3EDE-DFF1-73DC-22E4-933AAD10F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8006-8231-43E3-A171-62EF1A9A6DF4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4264CF-EF7C-338B-0DAD-7B98B1B4F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66073B-8AF5-AC87-D5FC-DF07ACFC8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AEFE9-6931-446E-9D70-A2704AF9B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7581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16A780-F364-4284-F420-E1DA75493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26717-9EBE-C7FD-E2E0-2FFEAB42F3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38DCF0-AB70-F1CA-1D7D-70B03F8EFA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5D6D7F-5165-5C99-D94B-5AC3EF7117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8006-8231-43E3-A171-62EF1A9A6DF4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C13E4B-5F1A-F738-A02C-E6F75BD597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A9D741-6ACF-53D8-90EB-0CDD8DFA5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AEFE9-6931-446E-9D70-A2704AF9B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648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3CC4A-8452-3473-4B93-E60F3386E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BDDE71-3E29-50C0-985D-BC1C742C0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307633-17C4-A97D-746A-BD3471FE43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D0A054-2046-4B5F-6E23-451C6836F6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FF971C-43BA-B859-6A52-083181F3DC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748FFF1-7804-E17F-D87B-7E17B7822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8006-8231-43E3-A171-62EF1A9A6DF4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DA1EDA-F1E7-359F-3200-C381DA252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9AB25A-A29E-A72E-C2A8-95F14D1DD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AEFE9-6931-446E-9D70-A2704AF9B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1319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47EB2-69B1-F335-DEE7-DF6283158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2C8DC8-E3C2-F1A5-C132-E077AADF5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8006-8231-43E3-A171-62EF1A9A6DF4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DB5266-7D07-3ED9-4CED-FA61A3661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45AC0-7474-C41B-83DD-74E1536147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AEFE9-6931-446E-9D70-A2704AF9B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4446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315719-01C3-D7D0-C5E8-A419F28AB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8006-8231-43E3-A171-62EF1A9A6DF4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14F2F6-763E-0959-48CF-06A5D256B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8CF3E6-D196-4BFC-7E2E-F7CD780C9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AEFE9-6931-446E-9D70-A2704AF9B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548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F238A-FA2B-08EA-D8FA-8997AFD9C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3B817C-7B68-BDBD-8976-606777BFF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6B52CE-427D-D59C-B5D8-3D05B3ED64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BFE0C0-8AAC-A48F-DA3B-0FC86AE301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8006-8231-43E3-A171-62EF1A9A6DF4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1B7CA3-39EC-3362-83E7-DCBE1C737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B528D-3CDE-1EA9-B1EB-2363AC820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AEFE9-6931-446E-9D70-A2704AF9B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517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B0720-239F-8556-1AD9-788C5FE3F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12C877-39E8-783F-2F6E-35E0BD97E9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7FBF50-B421-613B-BD3E-B3252CB598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BAEABB-B389-824D-C444-482283E10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8006-8231-43E3-A171-62EF1A9A6DF4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064C4A-6E66-F39D-2A18-957A4673D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35A4F8-BB59-C22B-F70A-7CE7CE40C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AEFE9-6931-446E-9D70-A2704AF9B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917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7706B-3C0B-A28A-CD53-DD164D9BE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9E11CC-291E-144A-98E8-1348FD300D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BB8AB-55EC-9DFB-0CB7-C4D403762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8006-8231-43E3-A171-62EF1A9A6DF4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FFDE32-DB75-BDA3-D308-A1956E009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D51AF-4685-4FE5-DDB6-3150CF644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AEFE9-6931-446E-9D70-A2704AF9B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4434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1D0BB9-EB44-92FF-165A-798A5D98F3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E5BE7C-A2CD-B0F2-144F-365E11AD30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04756B-0510-A45E-09A3-5F80380B5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88006-8231-43E3-A171-62EF1A9A6DF4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32FCE-E370-C60F-BE1D-3C014E6AE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5F6CF-774E-D8E8-6A50-09AE46B7B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AEFE9-6931-446E-9D70-A2704AF9B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60652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960000" y="2643500"/>
            <a:ext cx="4937200" cy="11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 hasCustomPrompt="1"/>
          </p:nvPr>
        </p:nvSpPr>
        <p:spPr>
          <a:xfrm>
            <a:off x="960000" y="1351033"/>
            <a:ext cx="1479200" cy="1384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960000" y="3647133"/>
            <a:ext cx="3248400" cy="86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>
            <a:spLocks noGrp="1"/>
          </p:cNvSpPr>
          <p:nvPr>
            <p:ph type="pic" idx="3"/>
          </p:nvPr>
        </p:nvSpPr>
        <p:spPr>
          <a:xfrm>
            <a:off x="6762133" y="1294700"/>
            <a:ext cx="4268800" cy="4268800"/>
          </a:xfrm>
          <a:prstGeom prst="ellipse">
            <a:avLst/>
          </a:prstGeom>
          <a:noFill/>
          <a:ln>
            <a:noFill/>
          </a:ln>
          <a:effectLst>
            <a:outerShdw blurRad="28575" dist="57150" dir="660000" algn="bl" rotWithShape="0">
              <a:srgbClr val="000000">
                <a:alpha val="30000"/>
              </a:srgbClr>
            </a:outerShdw>
          </a:effectLst>
        </p:spPr>
      </p:sp>
    </p:spTree>
    <p:extLst>
      <p:ext uri="{BB962C8B-B14F-4D97-AF65-F5344CB8AC3E}">
        <p14:creationId xmlns:p14="http://schemas.microsoft.com/office/powerpoint/2010/main" val="38086618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4CDBD71-19F4-8ED2-A61E-B2FBADA81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115ADD-AC64-B725-46D4-EC2AA14F9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6B9BB-E16F-F9AA-233A-3146A7958B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188006-8231-43E3-A171-62EF1A9A6DF4}" type="datetimeFigureOut">
              <a:rPr lang="en-IN" smtClean="0"/>
              <a:t>30-05-2026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98EBD-7234-F0D1-FD3C-CAEDA6EE9B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019EC-A154-29C8-ACCE-BC783AF11B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8AEFE9-6931-446E-9D70-A2704AF9BDD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6166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318;p36">
            <a:extLst>
              <a:ext uri="{FF2B5EF4-FFF2-40B4-BE49-F238E27FC236}">
                <a16:creationId xmlns:a16="http://schemas.microsoft.com/office/drawing/2014/main" id="{65F558F6-BB55-977F-25A3-8920FA0BE03C}"/>
              </a:ext>
            </a:extLst>
          </p:cNvPr>
          <p:cNvSpPr txBox="1">
            <a:spLocks/>
          </p:cNvSpPr>
          <p:nvPr/>
        </p:nvSpPr>
        <p:spPr>
          <a:xfrm>
            <a:off x="2710661" y="1966509"/>
            <a:ext cx="9054873" cy="1210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Kumbh Sans"/>
              <a:buNone/>
              <a:defRPr sz="4500" b="1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Kumbh Sans"/>
              <a:buNone/>
              <a:defRPr sz="3600" b="1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Kumbh Sans"/>
              <a:buNone/>
              <a:defRPr sz="3600" b="1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Kumbh Sans"/>
              <a:buNone/>
              <a:defRPr sz="3600" b="1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Kumbh Sans"/>
              <a:buNone/>
              <a:defRPr sz="3600" b="1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Kumbh Sans"/>
              <a:buNone/>
              <a:defRPr sz="3600" b="1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Kumbh Sans"/>
              <a:buNone/>
              <a:defRPr sz="3600" b="1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Kumbh Sans"/>
              <a:buNone/>
              <a:defRPr sz="3600" b="1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Kumbh Sans"/>
              <a:buNone/>
              <a:defRPr sz="3600" b="1" i="0" u="none" strike="noStrike" cap="none">
                <a:solidFill>
                  <a:schemeClr val="dk1"/>
                </a:solidFill>
                <a:latin typeface="Kumbh Sans"/>
                <a:ea typeface="Kumbh Sans"/>
                <a:cs typeface="Kumbh Sans"/>
                <a:sym typeface="Kumbh Sans"/>
              </a:defRPr>
            </a:lvl9pPr>
          </a:lstStyle>
          <a:p>
            <a:endParaRPr lang="en-US" sz="3733" dirty="0">
              <a:solidFill>
                <a:srgbClr val="3E1C94"/>
              </a:solidFill>
              <a:latin typeface="Garamond" panose="02020404030301010803" pitchFamily="18" charset="0"/>
            </a:endParaRPr>
          </a:p>
        </p:txBody>
      </p:sp>
      <p:sp>
        <p:nvSpPr>
          <p:cNvPr id="7" name="Google Shape;319;p36">
            <a:extLst>
              <a:ext uri="{FF2B5EF4-FFF2-40B4-BE49-F238E27FC236}">
                <a16:creationId xmlns:a16="http://schemas.microsoft.com/office/drawing/2014/main" id="{472ADB55-9B4E-EB6A-3E3A-EF0BAC5D94C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526701" y="5779150"/>
            <a:ext cx="8873501" cy="947767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Autofit/>
          </a:bodyPr>
          <a:lstStyle/>
          <a:p>
            <a:pPr marL="0" indent="0"/>
            <a:r>
              <a:rPr lang="en-US" sz="1867" dirty="0">
                <a:solidFill>
                  <a:schemeClr val="bg2">
                    <a:lumMod val="10000"/>
                  </a:schemeClr>
                </a:solidFill>
                <a:latin typeface="Garamond" panose="02020404030301010803" pitchFamily="18" charset="0"/>
              </a:rPr>
              <a:t>Under the guidance of </a:t>
            </a:r>
            <a:r>
              <a:rPr lang="en-US" sz="1867" b="1" dirty="0">
                <a:solidFill>
                  <a:schemeClr val="bg2">
                    <a:lumMod val="10000"/>
                  </a:schemeClr>
                </a:solidFill>
                <a:latin typeface="Garamond" panose="02020404030301010803" pitchFamily="18" charset="0"/>
              </a:rPr>
              <a:t>: Dr. Guruprasad </a:t>
            </a:r>
            <a:r>
              <a:rPr lang="en-US" sz="1867" b="1" dirty="0" err="1">
                <a:solidFill>
                  <a:schemeClr val="bg2">
                    <a:lumMod val="10000"/>
                  </a:schemeClr>
                </a:solidFill>
                <a:latin typeface="Garamond" panose="02020404030301010803" pitchFamily="18" charset="0"/>
              </a:rPr>
              <a:t>Konnurmath</a:t>
            </a:r>
            <a:r>
              <a:rPr lang="en-US" sz="1867" b="1" dirty="0">
                <a:solidFill>
                  <a:schemeClr val="bg2">
                    <a:lumMod val="10000"/>
                  </a:schemeClr>
                </a:solidFill>
                <a:latin typeface="Garamond" panose="02020404030301010803" pitchFamily="18" charset="0"/>
              </a:rPr>
              <a:t> </a:t>
            </a:r>
          </a:p>
          <a:p>
            <a:pPr marL="0" indent="0"/>
            <a:r>
              <a:rPr lang="en-US" sz="1867" b="1" dirty="0">
                <a:solidFill>
                  <a:schemeClr val="bg2">
                    <a:lumMod val="10000"/>
                  </a:schemeClr>
                </a:solidFill>
                <a:latin typeface="Garamond" panose="02020404030301010803" pitchFamily="18" charset="0"/>
              </a:rPr>
              <a:t>                                      </a:t>
            </a:r>
            <a:r>
              <a:rPr lang="en-US" sz="1867" dirty="0">
                <a:solidFill>
                  <a:schemeClr val="bg2">
                    <a:lumMod val="10000"/>
                  </a:schemeClr>
                </a:solidFill>
                <a:latin typeface="Garamond" panose="02020404030301010803" pitchFamily="18" charset="0"/>
              </a:rPr>
              <a:t>Professor, Department of CSE</a:t>
            </a:r>
          </a:p>
          <a:p>
            <a:pPr marL="0" indent="0"/>
            <a:r>
              <a:rPr lang="en-US" sz="1867" dirty="0">
                <a:solidFill>
                  <a:schemeClr val="bg2">
                    <a:lumMod val="10000"/>
                  </a:schemeClr>
                </a:solidFill>
                <a:latin typeface="Garamond" panose="02020404030301010803" pitchFamily="18" charset="0"/>
              </a:rPr>
              <a:t>                               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B9D071-0337-1E78-E014-30668840AA66}"/>
              </a:ext>
            </a:extLst>
          </p:cNvPr>
          <p:cNvSpPr txBox="1"/>
          <p:nvPr/>
        </p:nvSpPr>
        <p:spPr>
          <a:xfrm>
            <a:off x="2209933" y="896365"/>
            <a:ext cx="8397107" cy="502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667" b="1" dirty="0">
                <a:solidFill>
                  <a:srgbClr val="C00000"/>
                </a:solidFill>
                <a:latin typeface="Garamond" panose="02020404030301010803" pitchFamily="18" charset="0"/>
              </a:rPr>
              <a:t>Department of Computer Science and Engineering  </a:t>
            </a:r>
            <a:endParaRPr lang="en-IN" sz="2667" b="1" dirty="0">
              <a:solidFill>
                <a:srgbClr val="C00000"/>
              </a:solidFill>
              <a:latin typeface="Garamond" panose="02020404030301010803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C25061-DE11-723C-B3CF-1F49C8BBD21C}"/>
              </a:ext>
            </a:extLst>
          </p:cNvPr>
          <p:cNvSpPr txBox="1"/>
          <p:nvPr/>
        </p:nvSpPr>
        <p:spPr>
          <a:xfrm>
            <a:off x="2207608" y="1399131"/>
            <a:ext cx="8377085" cy="2154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Garamond" panose="02020404030301010803" pitchFamily="18" charset="0"/>
              </a:rPr>
              <a:t>Generative AI(25ECSC314)</a:t>
            </a:r>
          </a:p>
          <a:p>
            <a:pPr algn="ctr">
              <a:lnSpc>
                <a:spcPct val="150000"/>
              </a:lnSpc>
            </a:pPr>
            <a:r>
              <a:rPr lang="en-US" sz="2667" b="1" dirty="0">
                <a:latin typeface="Garamond" panose="02020404030301010803" pitchFamily="18" charset="0"/>
              </a:rPr>
              <a:t>VI Sem     Year: 2025-26   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Street Light Fault Report Generator using Sensor Data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667" b="1" dirty="0">
                <a:latin typeface="Garamond" panose="02020404030301010803" pitchFamily="18" charset="0"/>
              </a:rPr>
              <a:t>                  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FC431695-D4E4-ED89-FC6A-B5B54A03FA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317727"/>
              </p:ext>
            </p:extLst>
          </p:nvPr>
        </p:nvGraphicFramePr>
        <p:xfrm>
          <a:off x="2497204" y="3201967"/>
          <a:ext cx="7197592" cy="2461414"/>
        </p:xfrm>
        <a:graphic>
          <a:graphicData uri="http://schemas.openxmlformats.org/drawingml/2006/table">
            <a:tbl>
              <a:tblPr firstRow="1" bandRow="1">
                <a:tableStyleId>{85BE263C-DBD7-4A20-BB59-AAB30ACAA65A}</a:tableStyleId>
              </a:tblPr>
              <a:tblGrid>
                <a:gridCol w="847459">
                  <a:extLst>
                    <a:ext uri="{9D8B030D-6E8A-4147-A177-3AD203B41FA5}">
                      <a16:colId xmlns:a16="http://schemas.microsoft.com/office/drawing/2014/main" val="2888427786"/>
                    </a:ext>
                  </a:extLst>
                </a:gridCol>
                <a:gridCol w="2751337">
                  <a:extLst>
                    <a:ext uri="{9D8B030D-6E8A-4147-A177-3AD203B41FA5}">
                      <a16:colId xmlns:a16="http://schemas.microsoft.com/office/drawing/2014/main" val="1922841597"/>
                    </a:ext>
                  </a:extLst>
                </a:gridCol>
                <a:gridCol w="1126075">
                  <a:extLst>
                    <a:ext uri="{9D8B030D-6E8A-4147-A177-3AD203B41FA5}">
                      <a16:colId xmlns:a16="http://schemas.microsoft.com/office/drawing/2014/main" val="1871954988"/>
                    </a:ext>
                  </a:extLst>
                </a:gridCol>
                <a:gridCol w="2472721">
                  <a:extLst>
                    <a:ext uri="{9D8B030D-6E8A-4147-A177-3AD203B41FA5}">
                      <a16:colId xmlns:a16="http://schemas.microsoft.com/office/drawing/2014/main" val="237001879"/>
                    </a:ext>
                  </a:extLst>
                </a:gridCol>
              </a:tblGrid>
              <a:tr h="50479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Sl.no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Roll.no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USN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783122176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    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Anagha Hegde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112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01FE23BCS064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90448304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Sahana V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Agadi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116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01FE21BCS091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186918641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Srushti</a:t>
                      </a:r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Bammanawadi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121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01FE23BCS098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4279399248"/>
                  </a:ext>
                </a:extLst>
              </a:tr>
              <a:tr h="49358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Tanushree Manjunath 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126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01FE23BCS120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21920" marR="121920" marT="60960" marB="60960"/>
                </a:tc>
                <a:extLst>
                  <a:ext uri="{0D108BD9-81ED-4DB2-BD59-A6C34878D82A}">
                    <a16:rowId xmlns:a16="http://schemas.microsoft.com/office/drawing/2014/main" val="2313152303"/>
                  </a:ext>
                </a:extLst>
              </a:tr>
            </a:tbl>
          </a:graphicData>
        </a:graphic>
      </p:graphicFrame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8914" y="131083"/>
            <a:ext cx="3912989" cy="93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108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B6584E6D-F6B3-678D-96C9-381A83C00AA3}"/>
              </a:ext>
            </a:extLst>
          </p:cNvPr>
          <p:cNvSpPr txBox="1"/>
          <p:nvPr/>
        </p:nvSpPr>
        <p:spPr>
          <a:xfrm>
            <a:off x="393291" y="957231"/>
            <a:ext cx="1119894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/>
              <a:t>Problem Statement: </a:t>
            </a:r>
            <a:r>
              <a:rPr lang="en-IN" sz="2000" dirty="0"/>
              <a:t>Urban municipalities lose significant energy and face safety risks from faulty street lighting with no automated reporting system. Build a GenAI system that ingests IoT sensor logs from street lights, detects fault patterns, generates structured fault reports with priority levels, and drafts work orders for maintenance teams. </a:t>
            </a:r>
          </a:p>
          <a:p>
            <a:endParaRPr lang="en-IN" sz="2000" dirty="0"/>
          </a:p>
          <a:p>
            <a:endParaRPr lang="en-IN" sz="2000" dirty="0"/>
          </a:p>
          <a:p>
            <a:r>
              <a:rPr lang="en-IN" sz="2000" b="1" dirty="0"/>
              <a:t>Objectives: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Detect abnormal street-light behaviour using Isolation Forest anomaly detection.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Classify faults into Burnt, Flickering, Voltage Surge, and Offline categories.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Generate AI-powered fault reports and automated maintenance work orders.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Visualize fault locations on an interactive map and prioritize repairs using P1, P2, and P3 levels.</a:t>
            </a:r>
          </a:p>
        </p:txBody>
      </p:sp>
    </p:spTree>
    <p:extLst>
      <p:ext uri="{BB962C8B-B14F-4D97-AF65-F5344CB8AC3E}">
        <p14:creationId xmlns:p14="http://schemas.microsoft.com/office/powerpoint/2010/main" val="21988269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FB77AB-126E-4D88-73D0-C2B188D16A22}"/>
              </a:ext>
            </a:extLst>
          </p:cNvPr>
          <p:cNvSpPr txBox="1"/>
          <p:nvPr/>
        </p:nvSpPr>
        <p:spPr>
          <a:xfrm>
            <a:off x="265471" y="528002"/>
            <a:ext cx="885886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Dataset Used : </a:t>
            </a:r>
            <a:r>
              <a:rPr lang="en-IN" dirty="0"/>
              <a:t>UCI Individual Household Electric Power Consumption Dataset</a:t>
            </a:r>
          </a:p>
          <a:p>
            <a:r>
              <a:rPr lang="en-IN" dirty="0"/>
              <a:t>Over 2 million real electrical measurements</a:t>
            </a:r>
          </a:p>
          <a:p>
            <a:r>
              <a:rPr lang="en-IN" dirty="0"/>
              <a:t>Features used: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Voltage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Current Intensity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Active Power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Timestamp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r>
              <a:rPr lang="en-IN" dirty="0"/>
              <a:t>Dataset transformed into 50 synthetic smart street-light nodes with: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GPS coordinates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Road categories (Highway, Main Road, Residential)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Simulated faults (Burnt, Flickering, Voltage Surge, Offline)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63BA32-E8C0-A32C-A3F7-33F7DC843B14}"/>
              </a:ext>
            </a:extLst>
          </p:cNvPr>
          <p:cNvSpPr txBox="1"/>
          <p:nvPr/>
        </p:nvSpPr>
        <p:spPr>
          <a:xfrm>
            <a:off x="353961" y="4217643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Pipeline</a:t>
            </a:r>
          </a:p>
          <a:p>
            <a:r>
              <a:rPr lang="en-IN" dirty="0"/>
              <a:t>1. Data Cleaning &amp; Preprocessing</a:t>
            </a:r>
          </a:p>
          <a:p>
            <a:r>
              <a:rPr lang="en-IN" dirty="0"/>
              <a:t>2. Street-Light Node Generation</a:t>
            </a:r>
          </a:p>
          <a:p>
            <a:r>
              <a:rPr lang="en-IN" dirty="0"/>
              <a:t>3. Fault Injection Simulation</a:t>
            </a:r>
          </a:p>
          <a:p>
            <a:r>
              <a:rPr lang="en-IN" dirty="0"/>
              <a:t>4. Feature Engineering</a:t>
            </a:r>
          </a:p>
          <a:p>
            <a:r>
              <a:rPr lang="en-IN" dirty="0"/>
              <a:t>5. Isolation Forest Anomaly Detection</a:t>
            </a:r>
          </a:p>
          <a:p>
            <a:r>
              <a:rPr lang="en-IN" dirty="0"/>
              <a:t>6. Rule-Based Fault Classification</a:t>
            </a:r>
          </a:p>
          <a:p>
            <a:r>
              <a:rPr lang="en-IN" dirty="0"/>
              <a:t>7. Performance Evaluation</a:t>
            </a:r>
          </a:p>
        </p:txBody>
      </p:sp>
    </p:spTree>
    <p:extLst>
      <p:ext uri="{BB962C8B-B14F-4D97-AF65-F5344CB8AC3E}">
        <p14:creationId xmlns:p14="http://schemas.microsoft.com/office/powerpoint/2010/main" val="3734345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B34BD55-35A4-9FB7-BA3B-628010465132}"/>
              </a:ext>
            </a:extLst>
          </p:cNvPr>
          <p:cNvSpPr txBox="1"/>
          <p:nvPr/>
        </p:nvSpPr>
        <p:spPr>
          <a:xfrm>
            <a:off x="373627" y="609600"/>
            <a:ext cx="1317522" cy="369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UCI Dataset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2C3EB4-9472-D224-1C56-62EDD6998958}"/>
              </a:ext>
            </a:extLst>
          </p:cNvPr>
          <p:cNvSpPr txBox="1"/>
          <p:nvPr/>
        </p:nvSpPr>
        <p:spPr>
          <a:xfrm>
            <a:off x="294968" y="1451967"/>
            <a:ext cx="1474839" cy="369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Data Cleaning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CA3B90-5AA8-9A92-B371-5FBF28543373}"/>
              </a:ext>
            </a:extLst>
          </p:cNvPr>
          <p:cNvSpPr txBox="1"/>
          <p:nvPr/>
        </p:nvSpPr>
        <p:spPr>
          <a:xfrm>
            <a:off x="201562" y="2410740"/>
            <a:ext cx="2320413" cy="64633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50 Street Light Nodes</a:t>
            </a:r>
          </a:p>
          <a:p>
            <a:pPr algn="ctr"/>
            <a:r>
              <a:rPr lang="en-US" dirty="0"/>
              <a:t>GPS + Road Type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DC8F6C-3FE6-EF05-DB79-292F9FD350B1}"/>
              </a:ext>
            </a:extLst>
          </p:cNvPr>
          <p:cNvSpPr txBox="1"/>
          <p:nvPr/>
        </p:nvSpPr>
        <p:spPr>
          <a:xfrm>
            <a:off x="481777" y="3866621"/>
            <a:ext cx="1066801" cy="64633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Fault Injection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EB9F53-FB82-708D-A0FB-121C2E239E41}"/>
              </a:ext>
            </a:extLst>
          </p:cNvPr>
          <p:cNvSpPr txBox="1"/>
          <p:nvPr/>
        </p:nvSpPr>
        <p:spPr>
          <a:xfrm>
            <a:off x="2081979" y="3866621"/>
            <a:ext cx="1474839" cy="64633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Feature Engineering</a:t>
            </a:r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67519F-CAA5-9DE5-FF9F-3E41F4A02BA2}"/>
              </a:ext>
            </a:extLst>
          </p:cNvPr>
          <p:cNvSpPr txBox="1"/>
          <p:nvPr/>
        </p:nvSpPr>
        <p:spPr>
          <a:xfrm>
            <a:off x="2081979" y="5145894"/>
            <a:ext cx="1474839" cy="64633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Isolation Forest</a:t>
            </a:r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2A1BEC-73FB-4C3D-3DB7-C0914B6D1923}"/>
              </a:ext>
            </a:extLst>
          </p:cNvPr>
          <p:cNvSpPr txBox="1"/>
          <p:nvPr/>
        </p:nvSpPr>
        <p:spPr>
          <a:xfrm>
            <a:off x="4090221" y="5145893"/>
            <a:ext cx="1474839" cy="64633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Fault Classification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DCD0E8-9364-C853-0047-C2E522B1E626}"/>
              </a:ext>
            </a:extLst>
          </p:cNvPr>
          <p:cNvSpPr txBox="1"/>
          <p:nvPr/>
        </p:nvSpPr>
        <p:spPr>
          <a:xfrm>
            <a:off x="4073011" y="4005121"/>
            <a:ext cx="1474839" cy="369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Evaluation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D9B5648-1932-FAA4-A11D-0A3388F3A2EE}"/>
              </a:ext>
            </a:extLst>
          </p:cNvPr>
          <p:cNvSpPr txBox="1"/>
          <p:nvPr/>
        </p:nvSpPr>
        <p:spPr>
          <a:xfrm>
            <a:off x="6105833" y="5145892"/>
            <a:ext cx="1474839" cy="64633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Priority Assignment</a:t>
            </a:r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76C3BC-45C4-E635-0507-F605B1264163}"/>
              </a:ext>
            </a:extLst>
          </p:cNvPr>
          <p:cNvSpPr txBox="1"/>
          <p:nvPr/>
        </p:nvSpPr>
        <p:spPr>
          <a:xfrm>
            <a:off x="6096000" y="2096363"/>
            <a:ext cx="1474839" cy="64633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Streamlit</a:t>
            </a:r>
            <a:r>
              <a:rPr lang="en-US" dirty="0"/>
              <a:t> Dashboard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BCCAE1-7468-2453-F6DB-6233AA24089E}"/>
              </a:ext>
            </a:extLst>
          </p:cNvPr>
          <p:cNvSpPr txBox="1"/>
          <p:nvPr/>
        </p:nvSpPr>
        <p:spPr>
          <a:xfrm>
            <a:off x="7841226" y="1360795"/>
            <a:ext cx="1474839" cy="64633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 err="1"/>
              <a:t>Groq</a:t>
            </a:r>
            <a:r>
              <a:rPr lang="en-US" dirty="0"/>
              <a:t> AI Reports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E5650A-6BBF-281B-AE72-119BDBC5AA2D}"/>
              </a:ext>
            </a:extLst>
          </p:cNvPr>
          <p:cNvSpPr txBox="1"/>
          <p:nvPr/>
        </p:nvSpPr>
        <p:spPr>
          <a:xfrm>
            <a:off x="10053484" y="1362140"/>
            <a:ext cx="1474839" cy="646331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DOCX Work Orders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8E034B1-C3D8-B137-CF76-EEC4D53944EB}"/>
              </a:ext>
            </a:extLst>
          </p:cNvPr>
          <p:cNvSpPr txBox="1"/>
          <p:nvPr/>
        </p:nvSpPr>
        <p:spPr>
          <a:xfrm>
            <a:off x="10124767" y="2758800"/>
            <a:ext cx="1332272" cy="92333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Municipal Summary Report</a:t>
            </a:r>
            <a:endParaRPr lang="en-IN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4B441B8-7885-F437-9A43-AF2760C07EEF}"/>
              </a:ext>
            </a:extLst>
          </p:cNvPr>
          <p:cNvSpPr txBox="1"/>
          <p:nvPr/>
        </p:nvSpPr>
        <p:spPr>
          <a:xfrm>
            <a:off x="7841225" y="3233939"/>
            <a:ext cx="1474839" cy="369332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Folium Map</a:t>
            </a:r>
            <a:endParaRPr lang="en-IN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53A422F-4C03-87E9-62F2-E9C9B09C8F11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1032388" y="978932"/>
            <a:ext cx="0" cy="4730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80DC009-2E81-B93A-75E2-7C1C3DCA2058}"/>
              </a:ext>
            </a:extLst>
          </p:cNvPr>
          <p:cNvCxnSpPr>
            <a:cxnSpLocks/>
          </p:cNvCxnSpPr>
          <p:nvPr/>
        </p:nvCxnSpPr>
        <p:spPr>
          <a:xfrm>
            <a:off x="1032387" y="1851056"/>
            <a:ext cx="0" cy="55968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15457F2-D84F-8D04-4A35-F3B425A303CB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1015178" y="3057071"/>
            <a:ext cx="0" cy="8095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415F4D9-4670-09B6-6736-6F91B7BF13B7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1548578" y="4189787"/>
            <a:ext cx="533401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E10D2FF-99EA-113A-4F8A-579D5DF2B6AF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>
            <a:off x="2819399" y="4512952"/>
            <a:ext cx="0" cy="63294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4092715D-1DEC-DFF3-AFAA-022A0427739A}"/>
              </a:ext>
            </a:extLst>
          </p:cNvPr>
          <p:cNvCxnSpPr>
            <a:cxnSpLocks/>
            <a:stCxn id="10" idx="0"/>
            <a:endCxn id="11" idx="2"/>
          </p:cNvCxnSpPr>
          <p:nvPr/>
        </p:nvCxnSpPr>
        <p:spPr>
          <a:xfrm flipH="1" flipV="1">
            <a:off x="4810431" y="4374453"/>
            <a:ext cx="17210" cy="7714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85FD129E-38CD-D8B8-4175-B78C276EA54B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9316065" y="1683961"/>
            <a:ext cx="737419" cy="13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DED682F-61B0-BD75-3A88-859BE8D33849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3556818" y="5469059"/>
            <a:ext cx="533403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E79645CD-3C4C-6357-FE44-241EBA935323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 flipV="1">
            <a:off x="5565060" y="5469058"/>
            <a:ext cx="540773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6B11307B-C62F-8121-25D6-75C4AC268D8B}"/>
              </a:ext>
            </a:extLst>
          </p:cNvPr>
          <p:cNvCxnSpPr>
            <a:cxnSpLocks/>
            <a:stCxn id="12" idx="0"/>
            <a:endCxn id="13" idx="2"/>
          </p:cNvCxnSpPr>
          <p:nvPr/>
        </p:nvCxnSpPr>
        <p:spPr>
          <a:xfrm flipH="1" flipV="1">
            <a:off x="6833420" y="2742694"/>
            <a:ext cx="9833" cy="240319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Elbow 61">
            <a:extLst>
              <a:ext uri="{FF2B5EF4-FFF2-40B4-BE49-F238E27FC236}">
                <a16:creationId xmlns:a16="http://schemas.microsoft.com/office/drawing/2014/main" id="{CD2BB096-5468-1B26-B12B-704775692D9B}"/>
              </a:ext>
            </a:extLst>
          </p:cNvPr>
          <p:cNvCxnSpPr>
            <a:cxnSpLocks/>
            <a:stCxn id="11" idx="0"/>
            <a:endCxn id="13" idx="1"/>
          </p:cNvCxnSpPr>
          <p:nvPr/>
        </p:nvCxnSpPr>
        <p:spPr>
          <a:xfrm rot="5400000" flipH="1" flipV="1">
            <a:off x="4660419" y="2569541"/>
            <a:ext cx="1585592" cy="1285569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onnector: Elbow 90">
            <a:extLst>
              <a:ext uri="{FF2B5EF4-FFF2-40B4-BE49-F238E27FC236}">
                <a16:creationId xmlns:a16="http://schemas.microsoft.com/office/drawing/2014/main" id="{3D3EA251-AAB5-5858-EF7C-95C85B0EA21C}"/>
              </a:ext>
            </a:extLst>
          </p:cNvPr>
          <p:cNvCxnSpPr>
            <a:stCxn id="13" idx="3"/>
            <a:endCxn id="17" idx="0"/>
          </p:cNvCxnSpPr>
          <p:nvPr/>
        </p:nvCxnSpPr>
        <p:spPr>
          <a:xfrm>
            <a:off x="7570839" y="2419529"/>
            <a:ext cx="1007806" cy="81441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or: Elbow 94">
            <a:extLst>
              <a:ext uri="{FF2B5EF4-FFF2-40B4-BE49-F238E27FC236}">
                <a16:creationId xmlns:a16="http://schemas.microsoft.com/office/drawing/2014/main" id="{04B1AEE6-3EDA-D173-E41F-2F8036D9DC12}"/>
              </a:ext>
            </a:extLst>
          </p:cNvPr>
          <p:cNvCxnSpPr>
            <a:cxnSpLocks/>
            <a:stCxn id="13" idx="3"/>
            <a:endCxn id="14" idx="2"/>
          </p:cNvCxnSpPr>
          <p:nvPr/>
        </p:nvCxnSpPr>
        <p:spPr>
          <a:xfrm flipV="1">
            <a:off x="7570839" y="2007126"/>
            <a:ext cx="1007807" cy="412403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02869D01-D537-6F66-D4EB-377F40710919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 flipH="1">
            <a:off x="10790903" y="2008471"/>
            <a:ext cx="1" cy="7503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DF96283F-EF47-086F-A491-6EE611C82F7B}"/>
              </a:ext>
            </a:extLst>
          </p:cNvPr>
          <p:cNvSpPr txBox="1"/>
          <p:nvPr/>
        </p:nvSpPr>
        <p:spPr>
          <a:xfrm>
            <a:off x="3057833" y="25949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Smart Street Light Fault Report Generator using Sensor Data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414815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9407F74-7A1D-A5FF-B586-C002A7B385FE}"/>
              </a:ext>
            </a:extLst>
          </p:cNvPr>
          <p:cNvSpPr txBox="1"/>
          <p:nvPr/>
        </p:nvSpPr>
        <p:spPr>
          <a:xfrm>
            <a:off x="521110" y="599371"/>
            <a:ext cx="819027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 </a:t>
            </a:r>
            <a:r>
              <a:rPr lang="en-IN" b="1" dirty="0"/>
              <a:t>Isolation Forest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Unsupervised anomaly detection algorithm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Identifies abnormal sensor behaviour without requiring labelled training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Dynamically detects faulty nodes based on electrical characteristics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3CC258-BBA2-FC29-9161-E90264D862DD}"/>
              </a:ext>
            </a:extLst>
          </p:cNvPr>
          <p:cNvSpPr txBox="1"/>
          <p:nvPr/>
        </p:nvSpPr>
        <p:spPr>
          <a:xfrm>
            <a:off x="521110" y="2180669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Fault Categories Detected</a:t>
            </a: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Burnt : Lamp completely non-functional            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Flickering :Unstable brightness and power fluctuations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Voltage Surge :Excessively high voltage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Offline : Communication or power failure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0CD913-69F4-9FA6-28D8-06B04CCA7A04}"/>
              </a:ext>
            </a:extLst>
          </p:cNvPr>
          <p:cNvSpPr txBox="1"/>
          <p:nvPr/>
        </p:nvSpPr>
        <p:spPr>
          <a:xfrm>
            <a:off x="521110" y="3961155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System Outputs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Fault Detection Dashboard (</a:t>
            </a:r>
            <a:r>
              <a:rPr lang="en-IN" dirty="0" err="1"/>
              <a:t>Streamlit</a:t>
            </a:r>
            <a:r>
              <a:rPr lang="en-IN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GPS-Based Fault Map (Folium)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Priority Levels (P1, P2, P3)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Fault Reports (</a:t>
            </a:r>
            <a:r>
              <a:rPr lang="en-IN" dirty="0" err="1"/>
              <a:t>Groq</a:t>
            </a:r>
            <a:r>
              <a:rPr lang="en-IN" dirty="0"/>
              <a:t> LLM)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Automated Maintenance Work Orders (DOCX)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Daily Municipal Summary Report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Accuracy, Precision, Recall &amp; Confusion Matrix Evaluation</a:t>
            </a:r>
          </a:p>
        </p:txBody>
      </p:sp>
    </p:spTree>
    <p:extLst>
      <p:ext uri="{BB962C8B-B14F-4D97-AF65-F5344CB8AC3E}">
        <p14:creationId xmlns:p14="http://schemas.microsoft.com/office/powerpoint/2010/main" val="19884651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0E6321-2322-0B81-2C83-CED26556B3E1}"/>
              </a:ext>
            </a:extLst>
          </p:cNvPr>
          <p:cNvSpPr txBox="1"/>
          <p:nvPr/>
        </p:nvSpPr>
        <p:spPr>
          <a:xfrm>
            <a:off x="4205748" y="3044279"/>
            <a:ext cx="378050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99830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429</Words>
  <Application>Microsoft Office PowerPoint</Application>
  <PresentationFormat>Widescreen</PresentationFormat>
  <Paragraphs>91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Calibri Light</vt:lpstr>
      <vt:lpstr>Garamond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SRUSHTI BAMMANAWADI</dc:creator>
  <cp:lastModifiedBy>SRUSHTI BAMMANAWADI</cp:lastModifiedBy>
  <cp:revision>3</cp:revision>
  <dcterms:created xsi:type="dcterms:W3CDTF">2026-05-30T19:19:04Z</dcterms:created>
  <dcterms:modified xsi:type="dcterms:W3CDTF">2026-05-30T20:11:13Z</dcterms:modified>
</cp:coreProperties>
</file>